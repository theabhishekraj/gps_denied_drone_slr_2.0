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embeddedFontLst>
    <p:embeddedFont>
      <p:font typeface="Inter"/>
      <p:bold r:id="rId11"/>
      <p:boldItalic r:id="rId12"/>
    </p:embeddedFont>
    <p:embeddedFont>
      <p:font typeface="Inter ExtraBold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Ga2bqpFClZ5QkBBQfgcP5wBlW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slide" Target="slides/slide5.xml"/><Relationship Id="rId13" Type="http://schemas.openxmlformats.org/officeDocument/2006/relationships/font" Target="fonts/InterExtraBold-bold.fntdata"/><Relationship Id="rId12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Inter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Systematic Literature Review: GPS-Denied Drone Navigation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Project Finalisation &amp; Progress Report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Abhishek Raj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762000" y="523875"/>
            <a:ext cx="762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Current Project Status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762000" y="1428750"/>
            <a:ext cx="7620000" cy="762000"/>
            <a:chOff x="762000" y="1428750"/>
            <a:chExt cx="7620000" cy="762000"/>
          </a:xfrm>
        </p:grpSpPr>
        <p:sp>
          <p:nvSpPr>
            <p:cNvPr id="92" name="Google Shape;92;p2"/>
            <p:cNvSpPr/>
            <p:nvPr/>
          </p:nvSpPr>
          <p:spPr>
            <a:xfrm>
              <a:off x="762000" y="1428750"/>
              <a:ext cx="7620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143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000125" y="1692402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428750" y="1524000"/>
              <a:ext cx="514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Phase 1-4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Planning, Search, Extraction, Cleaning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5" name="Google Shape;95;p2"/>
            <p:cNvGrpSpPr/>
            <p:nvPr/>
          </p:nvGrpSpPr>
          <p:grpSpPr>
            <a:xfrm>
              <a:off x="6858000" y="1638300"/>
              <a:ext cx="1238400" cy="342900"/>
              <a:chOff x="0" y="0"/>
              <a:chExt cx="1238400" cy="342900"/>
            </a:xfrm>
          </p:grpSpPr>
          <p:sp>
            <p:nvSpPr>
              <p:cNvPr id="96" name="Google Shape;96;p2"/>
              <p:cNvSpPr/>
              <p:nvPr/>
            </p:nvSpPr>
            <p:spPr>
              <a:xfrm>
                <a:off x="0" y="0"/>
                <a:ext cx="12384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 txBox="1"/>
              <p:nvPr/>
            </p:nvSpPr>
            <p:spPr>
              <a:xfrm>
                <a:off x="0" y="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15803D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COMPLETED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8" name="Google Shape;98;p2"/>
          <p:cNvGrpSpPr/>
          <p:nvPr/>
        </p:nvGrpSpPr>
        <p:grpSpPr>
          <a:xfrm>
            <a:off x="762000" y="2333625"/>
            <a:ext cx="7620000" cy="762000"/>
            <a:chOff x="762000" y="2333625"/>
            <a:chExt cx="7620000" cy="762000"/>
          </a:xfrm>
        </p:grpSpPr>
        <p:sp>
          <p:nvSpPr>
            <p:cNvPr id="99" name="Google Shape;99;p2"/>
            <p:cNvSpPr/>
            <p:nvPr/>
          </p:nvSpPr>
          <p:spPr>
            <a:xfrm>
              <a:off x="762000" y="2333625"/>
              <a:ext cx="7620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143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000125" y="259727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428750" y="2428875"/>
              <a:ext cx="514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Phase 5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Analysis &amp; Figure Generation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2" name="Google Shape;102;p2"/>
            <p:cNvGrpSpPr/>
            <p:nvPr/>
          </p:nvGrpSpPr>
          <p:grpSpPr>
            <a:xfrm>
              <a:off x="6858000" y="2543175"/>
              <a:ext cx="1238400" cy="342900"/>
              <a:chOff x="0" y="0"/>
              <a:chExt cx="1238400" cy="342900"/>
            </a:xfrm>
          </p:grpSpPr>
          <p:sp>
            <p:nvSpPr>
              <p:cNvPr id="103" name="Google Shape;103;p2"/>
              <p:cNvSpPr/>
              <p:nvPr/>
            </p:nvSpPr>
            <p:spPr>
              <a:xfrm>
                <a:off x="0" y="0"/>
                <a:ext cx="12384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"/>
              <p:cNvSpPr txBox="1"/>
              <p:nvPr/>
            </p:nvSpPr>
            <p:spPr>
              <a:xfrm>
                <a:off x="0" y="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15803D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COMPLETED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5" name="Google Shape;105;p2"/>
          <p:cNvGrpSpPr/>
          <p:nvPr/>
        </p:nvGrpSpPr>
        <p:grpSpPr>
          <a:xfrm>
            <a:off x="762000" y="3238500"/>
            <a:ext cx="7620000" cy="762000"/>
            <a:chOff x="762000" y="3238500"/>
            <a:chExt cx="7620000" cy="762000"/>
          </a:xfrm>
        </p:grpSpPr>
        <p:sp>
          <p:nvSpPr>
            <p:cNvPr id="106" name="Google Shape;106;p2"/>
            <p:cNvSpPr/>
            <p:nvPr/>
          </p:nvSpPr>
          <p:spPr>
            <a:xfrm>
              <a:off x="762000" y="3238500"/>
              <a:ext cx="7620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143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1000125" y="3502152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1428750" y="3333750"/>
              <a:ext cx="514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Phase 6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Manuscript Writing &amp; Formatting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9" name="Google Shape;109;p2"/>
            <p:cNvGrpSpPr/>
            <p:nvPr/>
          </p:nvGrpSpPr>
          <p:grpSpPr>
            <a:xfrm>
              <a:off x="6858000" y="3448050"/>
              <a:ext cx="1238400" cy="342900"/>
              <a:chOff x="0" y="0"/>
              <a:chExt cx="1238400" cy="342900"/>
            </a:xfrm>
          </p:grpSpPr>
          <p:sp>
            <p:nvSpPr>
              <p:cNvPr id="110" name="Google Shape;110;p2"/>
              <p:cNvSpPr/>
              <p:nvPr/>
            </p:nvSpPr>
            <p:spPr>
              <a:xfrm>
                <a:off x="0" y="0"/>
                <a:ext cx="12384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2"/>
              <p:cNvSpPr txBox="1"/>
              <p:nvPr/>
            </p:nvSpPr>
            <p:spPr>
              <a:xfrm>
                <a:off x="0" y="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15803D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COMPLETED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2" name="Google Shape;112;p2"/>
          <p:cNvGrpSpPr/>
          <p:nvPr/>
        </p:nvGrpSpPr>
        <p:grpSpPr>
          <a:xfrm>
            <a:off x="762000" y="4143375"/>
            <a:ext cx="7620000" cy="762000"/>
            <a:chOff x="762000" y="4143375"/>
            <a:chExt cx="7620000" cy="762000"/>
          </a:xfrm>
        </p:grpSpPr>
        <p:sp>
          <p:nvSpPr>
            <p:cNvPr id="113" name="Google Shape;113;p2"/>
            <p:cNvSpPr/>
            <p:nvPr/>
          </p:nvSpPr>
          <p:spPr>
            <a:xfrm>
              <a:off x="762000" y="4143375"/>
              <a:ext cx="7620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1430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1000125" y="440702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1428750" y="4238625"/>
              <a:ext cx="514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Phase 7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Supplementary Files &amp; Verification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6" name="Google Shape;116;p2"/>
            <p:cNvGrpSpPr/>
            <p:nvPr/>
          </p:nvGrpSpPr>
          <p:grpSpPr>
            <a:xfrm>
              <a:off x="6858000" y="4352925"/>
              <a:ext cx="1238400" cy="342900"/>
              <a:chOff x="0" y="0"/>
              <a:chExt cx="1238400" cy="342900"/>
            </a:xfrm>
          </p:grpSpPr>
          <p:sp>
            <p:nvSpPr>
              <p:cNvPr id="117" name="Google Shape;117;p2"/>
              <p:cNvSpPr/>
              <p:nvPr/>
            </p:nvSpPr>
            <p:spPr>
              <a:xfrm>
                <a:off x="0" y="0"/>
                <a:ext cx="12384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2"/>
              <p:cNvSpPr txBox="1"/>
              <p:nvPr/>
            </p:nvSpPr>
            <p:spPr>
              <a:xfrm>
                <a:off x="0" y="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15803D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COMPLETED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9" name="Google Shape;119;p2"/>
          <p:cNvGrpSpPr/>
          <p:nvPr/>
        </p:nvGrpSpPr>
        <p:grpSpPr>
          <a:xfrm>
            <a:off x="762000" y="5048250"/>
            <a:ext cx="7620000" cy="838200"/>
            <a:chOff x="762000" y="5048250"/>
            <a:chExt cx="7620000" cy="838200"/>
          </a:xfrm>
        </p:grpSpPr>
        <p:sp>
          <p:nvSpPr>
            <p:cNvPr id="120" name="Google Shape;120;p2"/>
            <p:cNvSpPr/>
            <p:nvPr/>
          </p:nvSpPr>
          <p:spPr>
            <a:xfrm>
              <a:off x="762000" y="5048250"/>
              <a:ext cx="7620000" cy="838200"/>
            </a:xfrm>
            <a:prstGeom prst="roundRect">
              <a:avLst>
                <a:gd fmla="val 13636" name="adj"/>
              </a:avLst>
            </a:prstGeom>
            <a:solidFill>
              <a:srgbClr val="FFFBEB"/>
            </a:solidFill>
            <a:ln cap="flat" cmpd="sng" w="14300">
              <a:solidFill>
                <a:srgbClr val="FEF3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1000125" y="5350002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9770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pending</a:t>
              </a:r>
              <a:endParaRPr sz="2400">
                <a:solidFill>
                  <a:srgbClr val="D9770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1428750" y="5162550"/>
              <a:ext cx="5143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2400E"/>
                  </a:solidFill>
                  <a:latin typeface="Inter"/>
                  <a:ea typeface="Inter"/>
                  <a:cs typeface="Inter"/>
                  <a:sym typeface="Inter"/>
                </a:rPr>
                <a:t>Pending Tasks</a:t>
              </a:r>
              <a:endParaRPr b="1" sz="1300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B45309"/>
                  </a:solidFill>
                  <a:latin typeface="Inter"/>
                  <a:ea typeface="Inter"/>
                  <a:cs typeface="Inter"/>
                  <a:sym typeface="Inter"/>
                </a:rPr>
                <a:t>Supervisor Review, Zenodo Upload, Journal Submission</a:t>
              </a:r>
              <a:endParaRPr sz="11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3" name="Google Shape;123;p2"/>
            <p:cNvGrpSpPr/>
            <p:nvPr/>
          </p:nvGrpSpPr>
          <p:grpSpPr>
            <a:xfrm>
              <a:off x="6858000" y="5295900"/>
              <a:ext cx="1238400" cy="342900"/>
              <a:chOff x="0" y="0"/>
              <a:chExt cx="1238400" cy="342900"/>
            </a:xfrm>
          </p:grpSpPr>
          <p:sp>
            <p:nvSpPr>
              <p:cNvPr id="124" name="Google Shape;124;p2"/>
              <p:cNvSpPr/>
              <p:nvPr/>
            </p:nvSpPr>
            <p:spPr>
              <a:xfrm>
                <a:off x="0" y="0"/>
                <a:ext cx="12384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EF3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2"/>
              <p:cNvSpPr txBox="1"/>
              <p:nvPr/>
            </p:nvSpPr>
            <p:spPr>
              <a:xfrm>
                <a:off x="0" y="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B45309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IN PROGRESS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571500" y="571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Key Highlights &amp; Statistics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31" name="Google Shape;131;p3"/>
          <p:cNvGrpSpPr/>
          <p:nvPr/>
        </p:nvGrpSpPr>
        <p:grpSpPr>
          <a:xfrm>
            <a:off x="571500" y="1714500"/>
            <a:ext cx="1857300" cy="3238500"/>
            <a:chOff x="0" y="0"/>
            <a:chExt cx="1857300" cy="3238500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1857300" cy="3238500"/>
            </a:xfrm>
            <a:prstGeom prst="roundRect">
              <a:avLst>
                <a:gd fmla="val 82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90500" y="22860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1905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article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190500" y="838200"/>
              <a:ext cx="14763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Dataset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231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Peer-reviewed papers included in final analysis.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3"/>
          <p:cNvGrpSpPr/>
          <p:nvPr/>
        </p:nvGrpSpPr>
        <p:grpSpPr>
          <a:xfrm>
            <a:off x="2619375" y="1714500"/>
            <a:ext cx="1857300" cy="3238500"/>
            <a:chOff x="0" y="0"/>
            <a:chExt cx="1857300" cy="3238500"/>
          </a:xfrm>
        </p:grpSpPr>
        <p:sp>
          <p:nvSpPr>
            <p:cNvPr id="137" name="Google Shape;137;p3"/>
            <p:cNvSpPr/>
            <p:nvPr/>
          </p:nvSpPr>
          <p:spPr>
            <a:xfrm>
              <a:off x="0" y="0"/>
              <a:ext cx="1857300" cy="3238500"/>
            </a:xfrm>
            <a:prstGeom prst="roundRect">
              <a:avLst>
                <a:gd fmla="val 82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190500" y="22860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1905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0" name="Google Shape;140;p3"/>
            <p:cNvSpPr txBox="1"/>
            <p:nvPr/>
          </p:nvSpPr>
          <p:spPr>
            <a:xfrm>
              <a:off x="190500" y="838200"/>
              <a:ext cx="14763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Median RMSE</a:t>
              </a:r>
              <a:endParaRPr b="1" sz="10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0.080m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Overall translation error achieved in real-flight testing.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3"/>
          <p:cNvGrpSpPr/>
          <p:nvPr/>
        </p:nvGrpSpPr>
        <p:grpSpPr>
          <a:xfrm>
            <a:off x="4667250" y="1714500"/>
            <a:ext cx="1857300" cy="3238500"/>
            <a:chOff x="0" y="0"/>
            <a:chExt cx="1857300" cy="3238500"/>
          </a:xfrm>
        </p:grpSpPr>
        <p:sp>
          <p:nvSpPr>
            <p:cNvPr id="142" name="Google Shape;142;p3"/>
            <p:cNvSpPr/>
            <p:nvPr/>
          </p:nvSpPr>
          <p:spPr>
            <a:xfrm>
              <a:off x="0" y="0"/>
              <a:ext cx="1857300" cy="3238500"/>
            </a:xfrm>
            <a:prstGeom prst="roundRect">
              <a:avLst>
                <a:gd fmla="val 82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90500" y="22860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FFF7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1905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9731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grid_view</a:t>
              </a:r>
              <a:endParaRPr sz="2000">
                <a:solidFill>
                  <a:srgbClr val="F9731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190500" y="838200"/>
              <a:ext cx="14763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97316"/>
                  </a:solidFill>
                  <a:latin typeface="Inter"/>
                  <a:ea typeface="Inter"/>
                  <a:cs typeface="Inter"/>
                  <a:sym typeface="Inter"/>
                </a:rPr>
                <a:t>Dominant</a:t>
              </a:r>
              <a:endParaRPr b="1" sz="1000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23.4%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Monocular + IMU remains the most common hardware choice.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" name="Google Shape;146;p3"/>
          <p:cNvGrpSpPr/>
          <p:nvPr/>
        </p:nvGrpSpPr>
        <p:grpSpPr>
          <a:xfrm>
            <a:off x="6715125" y="1714500"/>
            <a:ext cx="1857300" cy="3238500"/>
            <a:chOff x="0" y="0"/>
            <a:chExt cx="1857300" cy="3238500"/>
          </a:xfrm>
        </p:grpSpPr>
        <p:sp>
          <p:nvSpPr>
            <p:cNvPr id="147" name="Google Shape;147;p3"/>
            <p:cNvSpPr/>
            <p:nvPr/>
          </p:nvSpPr>
          <p:spPr>
            <a:xfrm>
              <a:off x="0" y="0"/>
              <a:ext cx="1857300" cy="3238500"/>
            </a:xfrm>
            <a:prstGeom prst="roundRect">
              <a:avLst>
                <a:gd fmla="val 82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190500" y="22860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 txBox="1"/>
            <p:nvPr/>
          </p:nvSpPr>
          <p:spPr>
            <a:xfrm>
              <a:off x="190500" y="25781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20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0" name="Google Shape;150;p3"/>
            <p:cNvSpPr txBox="1"/>
            <p:nvPr/>
          </p:nvSpPr>
          <p:spPr>
            <a:xfrm>
              <a:off x="190500" y="838200"/>
              <a:ext cx="14763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Most Accurate</a:t>
              </a:r>
              <a:endParaRPr b="1" sz="10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Fusion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Multi-sensor setups combining LiDAR, Event, and Thermal.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Publication Trend (2015-2025)</a:t>
            </a:r>
            <a:endParaRPr/>
          </a:p>
        </p:txBody>
      </p:sp>
      <p:pic>
        <p:nvPicPr>
          <p:cNvPr descr="fig1_publications_over_time.png" id="156" name="Google Shape;1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828800"/>
            <a:ext cx="7315200" cy="4346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Navigation Methods Distribution</a:t>
            </a:r>
            <a:endParaRPr/>
          </a:p>
        </p:txBody>
      </p:sp>
      <p:pic>
        <p:nvPicPr>
          <p:cNvPr descr="fig3_navigation_methods.png"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828800"/>
            <a:ext cx="7315200" cy="4326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